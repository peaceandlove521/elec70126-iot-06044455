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486400"/>
  <p:notesSz cx="54864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D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208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434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301" y="1267045"/>
            <a:ext cx="813816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ysDash"/>
          </a:ln>
        </p:spPr>
      </p:sp>
      <p:sp>
        <p:nvSpPr>
          <p:cNvPr id="3" name="Shape 1"/>
          <p:cNvSpPr/>
          <p:nvPr/>
        </p:nvSpPr>
        <p:spPr>
          <a:xfrm>
            <a:off x="609926" y="1826952"/>
            <a:ext cx="813816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609926" y="2297320"/>
            <a:ext cx="813816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570623" y="3094009"/>
            <a:ext cx="813816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ysDash"/>
          </a:ln>
        </p:spPr>
      </p:sp>
      <p:sp>
        <p:nvSpPr>
          <p:cNvPr id="6" name="Text 4"/>
          <p:cNvSpPr/>
          <p:nvPr/>
        </p:nvSpPr>
        <p:spPr>
          <a:xfrm>
            <a:off x="141138" y="83730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Sensing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3336" y="1356479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Edge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7827" y="190662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Cloud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260" y="2569982"/>
            <a:ext cx="7269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Processing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7988" y="314613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Platform</a:t>
            </a:r>
            <a:endParaRPr lang="en-US" sz="900" dirty="0"/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B07ADB94-529B-A65B-3B58-A942207ACC6B}"/>
              </a:ext>
            </a:extLst>
          </p:cNvPr>
          <p:cNvGrpSpPr/>
          <p:nvPr/>
        </p:nvGrpSpPr>
        <p:grpSpPr>
          <a:xfrm>
            <a:off x="676656" y="831088"/>
            <a:ext cx="847157" cy="267593"/>
            <a:chOff x="676656" y="475488"/>
            <a:chExt cx="847157" cy="267593"/>
          </a:xfrm>
        </p:grpSpPr>
        <p:sp>
          <p:nvSpPr>
            <p:cNvPr id="11" name="Shape 9"/>
            <p:cNvSpPr/>
            <p:nvPr/>
          </p:nvSpPr>
          <p:spPr>
            <a:xfrm>
              <a:off x="676656" y="475488"/>
              <a:ext cx="847157" cy="267593"/>
            </a:xfrm>
            <a:prstGeom prst="roundRect">
              <a:avLst>
                <a:gd name="adj" fmla="val 12000"/>
              </a:avLst>
            </a:prstGeom>
            <a:solidFill>
              <a:srgbClr val="E1F5EE"/>
            </a:solidFill>
            <a:ln w="10160">
              <a:solidFill>
                <a:srgbClr val="0F6E56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76656" y="493776"/>
              <a:ext cx="847157" cy="133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F6E56"/>
                  </a:solidFill>
                </a:rPr>
                <a:t>DHT11</a:t>
              </a:r>
              <a:endParaRPr lang="en-US" sz="8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76656" y="598932"/>
              <a:ext cx="847157" cy="1230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3D5A56"/>
                  </a:solidFill>
                </a:rPr>
                <a:t>Temp · Humidity</a:t>
              </a:r>
              <a:endParaRPr lang="en-US" sz="700" dirty="0"/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2A5721CF-893C-7F8C-199A-2C1028016BAE}"/>
              </a:ext>
            </a:extLst>
          </p:cNvPr>
          <p:cNvGrpSpPr/>
          <p:nvPr/>
        </p:nvGrpSpPr>
        <p:grpSpPr>
          <a:xfrm>
            <a:off x="1579753" y="831088"/>
            <a:ext cx="856301" cy="267593"/>
            <a:chOff x="1824228" y="475488"/>
            <a:chExt cx="856301" cy="267593"/>
          </a:xfrm>
        </p:grpSpPr>
        <p:sp>
          <p:nvSpPr>
            <p:cNvPr id="14" name="Shape 12"/>
            <p:cNvSpPr/>
            <p:nvPr/>
          </p:nvSpPr>
          <p:spPr>
            <a:xfrm>
              <a:off x="1824228" y="475488"/>
              <a:ext cx="847157" cy="267593"/>
            </a:xfrm>
            <a:prstGeom prst="roundRect">
              <a:avLst>
                <a:gd name="adj" fmla="val 12000"/>
              </a:avLst>
            </a:prstGeom>
            <a:solidFill>
              <a:srgbClr val="E1F5EE"/>
            </a:solidFill>
            <a:ln w="1016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1833372" y="493776"/>
              <a:ext cx="847157" cy="133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F6E56"/>
                  </a:solidFill>
                </a:rPr>
                <a:t>GL5516 LDR</a:t>
              </a:r>
              <a:endParaRPr lang="en-US" sz="8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833372" y="598932"/>
              <a:ext cx="847157" cy="1230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3D5A56"/>
                  </a:solidFill>
                </a:rPr>
                <a:t>Light intensity</a:t>
              </a:r>
              <a:endParaRPr lang="en-US" sz="700" dirty="0"/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F14FA676-3D84-D8CB-7DDB-1502097B82FF}"/>
              </a:ext>
            </a:extLst>
          </p:cNvPr>
          <p:cNvGrpSpPr/>
          <p:nvPr/>
        </p:nvGrpSpPr>
        <p:grpSpPr>
          <a:xfrm>
            <a:off x="2485898" y="831088"/>
            <a:ext cx="856301" cy="267593"/>
            <a:chOff x="3012948" y="475488"/>
            <a:chExt cx="856301" cy="267593"/>
          </a:xfrm>
        </p:grpSpPr>
        <p:sp>
          <p:nvSpPr>
            <p:cNvPr id="17" name="Shape 15"/>
            <p:cNvSpPr/>
            <p:nvPr/>
          </p:nvSpPr>
          <p:spPr>
            <a:xfrm>
              <a:off x="3012948" y="475488"/>
              <a:ext cx="847157" cy="267593"/>
            </a:xfrm>
            <a:prstGeom prst="roundRect">
              <a:avLst>
                <a:gd name="adj" fmla="val 12000"/>
              </a:avLst>
            </a:prstGeom>
            <a:solidFill>
              <a:srgbClr val="E1F5EE"/>
            </a:solidFill>
            <a:ln w="10160">
              <a:solidFill>
                <a:srgbClr val="0F6E56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022092" y="493776"/>
              <a:ext cx="847157" cy="133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F6E56"/>
                  </a:solidFill>
                </a:rPr>
                <a:t>HC-SR501 PIR</a:t>
              </a:r>
              <a:endParaRPr lang="en-US" sz="8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022092" y="598932"/>
              <a:ext cx="847157" cy="1230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3D5A56"/>
                  </a:solidFill>
                </a:rPr>
                <a:t>Occupancy</a:t>
              </a:r>
              <a:endParaRPr lang="en-US" sz="700" dirty="0"/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3FE45F3B-1D07-C6AB-D8B7-F68B8AB516EF}"/>
              </a:ext>
            </a:extLst>
          </p:cNvPr>
          <p:cNvGrpSpPr/>
          <p:nvPr/>
        </p:nvGrpSpPr>
        <p:grpSpPr>
          <a:xfrm>
            <a:off x="3391789" y="827913"/>
            <a:ext cx="847157" cy="267593"/>
            <a:chOff x="4169664" y="475488"/>
            <a:chExt cx="847157" cy="267593"/>
          </a:xfrm>
        </p:grpSpPr>
        <p:sp>
          <p:nvSpPr>
            <p:cNvPr id="20" name="Shape 18"/>
            <p:cNvSpPr/>
            <p:nvPr/>
          </p:nvSpPr>
          <p:spPr>
            <a:xfrm>
              <a:off x="4169664" y="475488"/>
              <a:ext cx="847157" cy="267593"/>
            </a:xfrm>
            <a:prstGeom prst="roundRect">
              <a:avLst>
                <a:gd name="adj" fmla="val 12000"/>
              </a:avLst>
            </a:prstGeom>
            <a:solidFill>
              <a:srgbClr val="E1F5EE"/>
            </a:solidFill>
            <a:ln w="10160">
              <a:solidFill>
                <a:srgbClr val="0F6E56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169664" y="493776"/>
              <a:ext cx="847157" cy="133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F6E56"/>
                  </a:solidFill>
                </a:rPr>
                <a:t>DS1307 RTC</a:t>
              </a:r>
              <a:endParaRPr lang="en-US" sz="8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169664" y="598932"/>
              <a:ext cx="847157" cy="1230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3D5A56"/>
                  </a:solidFill>
                </a:rPr>
                <a:t>Timestamp</a:t>
              </a:r>
              <a:endParaRPr lang="en-US" sz="700" dirty="0"/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8F7495E0-7824-B26B-D3BD-FE6BB6FF636F}"/>
              </a:ext>
            </a:extLst>
          </p:cNvPr>
          <p:cNvGrpSpPr/>
          <p:nvPr/>
        </p:nvGrpSpPr>
        <p:grpSpPr>
          <a:xfrm>
            <a:off x="4294011" y="950638"/>
            <a:ext cx="911166" cy="278893"/>
            <a:chOff x="5295290" y="655076"/>
            <a:chExt cx="911166" cy="278893"/>
          </a:xfrm>
        </p:grpSpPr>
        <p:sp>
          <p:nvSpPr>
            <p:cNvPr id="23" name="Shape 21"/>
            <p:cNvSpPr/>
            <p:nvPr/>
          </p:nvSpPr>
          <p:spPr>
            <a:xfrm>
              <a:off x="5295290" y="655076"/>
              <a:ext cx="891049" cy="277613"/>
            </a:xfrm>
            <a:prstGeom prst="roundRect">
              <a:avLst>
                <a:gd name="adj" fmla="val 12000"/>
              </a:avLst>
            </a:prstGeom>
            <a:solidFill>
              <a:srgbClr val="EEEDFE"/>
            </a:solidFill>
            <a:ln w="10160">
              <a:solidFill>
                <a:srgbClr val="534AB7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298948" y="662940"/>
              <a:ext cx="891049" cy="1554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534AB7"/>
                  </a:solidFill>
                </a:rPr>
                <a:t>BatteryMon</a:t>
              </a:r>
              <a:endParaRPr lang="en-US" sz="8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315407" y="790956"/>
              <a:ext cx="891049" cy="143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3D5A56"/>
                  </a:solidFill>
                </a:rPr>
                <a:t>Power · Charge %</a:t>
              </a:r>
              <a:endParaRPr lang="en-US" sz="70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1333754" y="1368425"/>
            <a:ext cx="2223208" cy="289000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10160">
            <a:solidFill>
              <a:srgbClr val="5F5E5A"/>
            </a:solidFill>
            <a:prstDash val="solid"/>
          </a:ln>
        </p:spPr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1F82D00C-E16C-E099-308C-1A90EC592438}"/>
              </a:ext>
            </a:extLst>
          </p:cNvPr>
          <p:cNvGrpSpPr/>
          <p:nvPr/>
        </p:nvGrpSpPr>
        <p:grpSpPr>
          <a:xfrm>
            <a:off x="1043755" y="1394460"/>
            <a:ext cx="2847721" cy="251323"/>
            <a:chOff x="1316805" y="1394460"/>
            <a:chExt cx="2847721" cy="251323"/>
          </a:xfrm>
        </p:grpSpPr>
        <p:sp>
          <p:nvSpPr>
            <p:cNvPr id="28" name="Text 26"/>
            <p:cNvSpPr/>
            <p:nvPr/>
          </p:nvSpPr>
          <p:spPr>
            <a:xfrm>
              <a:off x="1316805" y="1394460"/>
              <a:ext cx="2847721" cy="1468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5F5E5A"/>
                  </a:solidFill>
                </a:rPr>
                <a:t>Heltec WiFi LoRa 32</a:t>
              </a:r>
              <a:endParaRPr lang="en-US" sz="8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316805" y="1510648"/>
              <a:ext cx="2847721" cy="135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3D5A56"/>
                  </a:solidFill>
                </a:rPr>
                <a:t>Aggregate · format JSON · local cache</a:t>
              </a:r>
              <a:endParaRPr lang="en-US" sz="700" dirty="0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0A162E3C-4C99-8D84-39DA-5F854ED391F7}"/>
              </a:ext>
            </a:extLst>
          </p:cNvPr>
          <p:cNvGrpSpPr/>
          <p:nvPr/>
        </p:nvGrpSpPr>
        <p:grpSpPr>
          <a:xfrm>
            <a:off x="1355500" y="1921162"/>
            <a:ext cx="2141066" cy="278296"/>
            <a:chOff x="1701575" y="2346033"/>
            <a:chExt cx="2141066" cy="278296"/>
          </a:xfrm>
        </p:grpSpPr>
        <p:sp>
          <p:nvSpPr>
            <p:cNvPr id="36" name="Shape 34"/>
            <p:cNvSpPr/>
            <p:nvPr/>
          </p:nvSpPr>
          <p:spPr>
            <a:xfrm>
              <a:off x="1719072" y="2346033"/>
              <a:ext cx="2078183" cy="278296"/>
            </a:xfrm>
            <a:prstGeom prst="roundRect">
              <a:avLst>
                <a:gd name="adj" fmla="val 11538"/>
              </a:avLst>
            </a:prstGeom>
            <a:solidFill>
              <a:srgbClr val="E6F1FB"/>
            </a:solidFill>
            <a:ln w="10160">
              <a:solidFill>
                <a:srgbClr val="185FA5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1764458" y="2357592"/>
              <a:ext cx="2078183" cy="1391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85FA5"/>
                  </a:solidFill>
                </a:rPr>
                <a:t>Google Sheets</a:t>
              </a:r>
              <a:endParaRPr lang="en-US" sz="8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1701575" y="2459735"/>
              <a:ext cx="2078183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3D5A56"/>
                  </a:solidFill>
                </a:rPr>
                <a:t>Cloud storage · raw records</a:t>
              </a:r>
              <a:endParaRPr lang="en-US" sz="700" dirty="0"/>
            </a:p>
          </p:txBody>
        </p:sp>
      </p:grpSp>
      <p:sp>
        <p:nvSpPr>
          <p:cNvPr id="42" name="Shape 40"/>
          <p:cNvSpPr/>
          <p:nvPr/>
        </p:nvSpPr>
        <p:spPr>
          <a:xfrm>
            <a:off x="1352792" y="3173490"/>
            <a:ext cx="2203971" cy="257674"/>
          </a:xfrm>
          <a:prstGeom prst="roundRect">
            <a:avLst>
              <a:gd name="adj" fmla="val 11538"/>
            </a:avLst>
          </a:prstGeom>
          <a:solidFill>
            <a:srgbClr val="E1F5EE"/>
          </a:solidFill>
          <a:ln w="10160">
            <a:solidFill>
              <a:srgbClr val="0F6E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87405" y="3185914"/>
            <a:ext cx="2475288" cy="13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6E56"/>
                </a:solidFill>
              </a:rPr>
              <a:t>EcoSense dashboard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98591" y="3293912"/>
            <a:ext cx="2475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A56"/>
                </a:solidFill>
              </a:rPr>
              <a:t>Visualise · analyse · Eco Tips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 flipV="1">
            <a:off x="1087808" y="1185931"/>
            <a:ext cx="2747819" cy="5908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 flipH="1">
            <a:off x="2456907" y="1191839"/>
            <a:ext cx="0" cy="177829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  <a:tailEnd type="arrow"/>
          </a:ln>
        </p:spPr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09050E98-A022-BB0C-13B8-741027A05CC3}"/>
              </a:ext>
            </a:extLst>
          </p:cNvPr>
          <p:cNvGrpSpPr/>
          <p:nvPr/>
        </p:nvGrpSpPr>
        <p:grpSpPr>
          <a:xfrm>
            <a:off x="3763391" y="1394460"/>
            <a:ext cx="810622" cy="235481"/>
            <a:chOff x="3804666" y="1394460"/>
            <a:chExt cx="810622" cy="235481"/>
          </a:xfrm>
        </p:grpSpPr>
        <p:sp>
          <p:nvSpPr>
            <p:cNvPr id="30" name="Shape 28"/>
            <p:cNvSpPr/>
            <p:nvPr/>
          </p:nvSpPr>
          <p:spPr>
            <a:xfrm>
              <a:off x="3804666" y="1394460"/>
              <a:ext cx="807447" cy="235481"/>
            </a:xfrm>
            <a:prstGeom prst="roundRect">
              <a:avLst>
                <a:gd name="adj" fmla="val 13636"/>
              </a:avLst>
            </a:prstGeom>
            <a:solidFill>
              <a:srgbClr val="FAEEDA"/>
            </a:solidFill>
            <a:ln w="10160">
              <a:solidFill>
                <a:srgbClr val="BA7517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807841" y="1421892"/>
              <a:ext cx="807447" cy="1177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BA7517"/>
                  </a:solidFill>
                </a:rPr>
                <a:t>SPIFFS</a:t>
              </a:r>
              <a:endParaRPr lang="en-US" sz="8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807841" y="1504189"/>
              <a:ext cx="807447" cy="1083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3D5A56"/>
                  </a:solidFill>
                </a:rPr>
                <a:t>Local buffer</a:t>
              </a:r>
              <a:endParaRPr lang="en-US" sz="700" dirty="0"/>
            </a:p>
          </p:txBody>
        </p:sp>
      </p:grpSp>
      <p:sp>
        <p:nvSpPr>
          <p:cNvPr id="51" name="Shape 49"/>
          <p:cNvSpPr/>
          <p:nvPr/>
        </p:nvSpPr>
        <p:spPr>
          <a:xfrm>
            <a:off x="3555238" y="1508760"/>
            <a:ext cx="201168" cy="914"/>
          </a:xfrm>
          <a:prstGeom prst="line">
            <a:avLst/>
          </a:prstGeom>
          <a:noFill/>
          <a:ln w="12700">
            <a:solidFill>
              <a:srgbClr val="BA7517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4768254" y="1229531"/>
            <a:ext cx="15406" cy="1498494"/>
          </a:xfrm>
          <a:prstGeom prst="line">
            <a:avLst/>
          </a:prstGeom>
          <a:noFill/>
          <a:ln w="12700">
            <a:solidFill>
              <a:srgbClr val="534AB7"/>
            </a:solidFill>
            <a:prstDash val="dash"/>
            <a:tailEnd type="none"/>
          </a:ln>
        </p:spPr>
      </p:sp>
      <p:sp>
        <p:nvSpPr>
          <p:cNvPr id="54" name="Shape 52"/>
          <p:cNvSpPr/>
          <p:nvPr/>
        </p:nvSpPr>
        <p:spPr>
          <a:xfrm flipH="1">
            <a:off x="3692432" y="2703063"/>
            <a:ext cx="1091228" cy="92"/>
          </a:xfrm>
          <a:prstGeom prst="line">
            <a:avLst/>
          </a:prstGeom>
          <a:noFill/>
          <a:ln w="12700">
            <a:solidFill>
              <a:srgbClr val="534AB7"/>
            </a:solidFill>
            <a:prstDash val="dash"/>
            <a:tailEnd type="arrow"/>
          </a:ln>
        </p:spPr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3BE04D61-1C49-75B9-3B12-D60F54FBF940}"/>
              </a:ext>
            </a:extLst>
          </p:cNvPr>
          <p:cNvGrpSpPr/>
          <p:nvPr/>
        </p:nvGrpSpPr>
        <p:grpSpPr>
          <a:xfrm>
            <a:off x="2389645" y="1661787"/>
            <a:ext cx="1920240" cy="260604"/>
            <a:chOff x="2729370" y="1661787"/>
            <a:chExt cx="1920240" cy="260604"/>
          </a:xfrm>
        </p:grpSpPr>
        <p:sp>
          <p:nvSpPr>
            <p:cNvPr id="55" name="Shape 53"/>
            <p:cNvSpPr/>
            <p:nvPr/>
          </p:nvSpPr>
          <p:spPr>
            <a:xfrm>
              <a:off x="2798978" y="1661787"/>
              <a:ext cx="914" cy="260604"/>
            </a:xfrm>
            <a:prstGeom prst="line">
              <a:avLst/>
            </a:prstGeom>
            <a:noFill/>
            <a:ln w="12700">
              <a:solidFill>
                <a:srgbClr val="B4B2A9"/>
              </a:solidFill>
              <a:prstDash val="solid"/>
              <a:tailEnd type="arrow"/>
            </a:ln>
          </p:spPr>
        </p:sp>
        <p:sp>
          <p:nvSpPr>
            <p:cNvPr id="56" name="Text 54"/>
            <p:cNvSpPr/>
            <p:nvPr/>
          </p:nvSpPr>
          <p:spPr>
            <a:xfrm>
              <a:off x="2729370" y="1682448"/>
              <a:ext cx="19202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650" i="1" dirty="0">
                  <a:solidFill>
                    <a:srgbClr val="5F5E5A"/>
                  </a:solidFill>
                </a:rPr>
                <a:t>Batch upload · WiFi · HTTP POST</a:t>
              </a:r>
              <a:endParaRPr lang="en-US" sz="650" dirty="0"/>
            </a:p>
          </p:txBody>
        </p:sp>
      </p:grpSp>
      <p:sp>
        <p:nvSpPr>
          <p:cNvPr id="57" name="Shape 55"/>
          <p:cNvSpPr/>
          <p:nvPr/>
        </p:nvSpPr>
        <p:spPr>
          <a:xfrm>
            <a:off x="4159076" y="1636776"/>
            <a:ext cx="913" cy="435093"/>
          </a:xfrm>
          <a:prstGeom prst="line">
            <a:avLst/>
          </a:prstGeom>
          <a:noFill/>
          <a:ln w="12700">
            <a:solidFill>
              <a:srgbClr val="B4B2A9"/>
            </a:solidFill>
            <a:prstDash val="dash"/>
            <a:tailEnd type="none"/>
          </a:ln>
        </p:spPr>
      </p:sp>
      <p:sp>
        <p:nvSpPr>
          <p:cNvPr id="58" name="Shape 56"/>
          <p:cNvSpPr/>
          <p:nvPr/>
        </p:nvSpPr>
        <p:spPr>
          <a:xfrm flipH="1" flipV="1">
            <a:off x="3448004" y="2052981"/>
            <a:ext cx="722156" cy="9362"/>
          </a:xfrm>
          <a:prstGeom prst="line">
            <a:avLst/>
          </a:prstGeom>
          <a:noFill/>
          <a:ln w="12700">
            <a:solidFill>
              <a:srgbClr val="B4B2A9"/>
            </a:solidFill>
            <a:prstDash val="dash"/>
            <a:tailEnd type="arrow"/>
          </a:ln>
        </p:spPr>
      </p:sp>
      <p:sp>
        <p:nvSpPr>
          <p:cNvPr id="59" name="Text 57"/>
          <p:cNvSpPr/>
          <p:nvPr/>
        </p:nvSpPr>
        <p:spPr>
          <a:xfrm>
            <a:off x="3282809" y="191655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F5E5A"/>
                </a:solidFill>
              </a:rPr>
              <a:t>On reconnect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443378" y="3001886"/>
            <a:ext cx="0" cy="188053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3557833" y="3302654"/>
            <a:ext cx="858831" cy="914"/>
          </a:xfrm>
          <a:prstGeom prst="line">
            <a:avLst/>
          </a:prstGeom>
          <a:noFill/>
          <a:ln w="12700">
            <a:solidFill>
              <a:srgbClr val="B4B2A9"/>
            </a:solidFill>
            <a:prstDash val="dash"/>
            <a:tailEnd type="arrow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5" name="Text 63"/>
          <p:cNvSpPr/>
          <p:nvPr/>
        </p:nvSpPr>
        <p:spPr>
          <a:xfrm>
            <a:off x="4314128" y="3051023"/>
            <a:ext cx="822960" cy="4857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F5E5A"/>
                </a:solidFill>
              </a:rPr>
              <a:t>Eco Tips → user behaviour</a:t>
            </a:r>
            <a:endParaRPr lang="en-US" sz="65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273EDE5-DEE3-1071-E5FB-83CB19D8B075}"/>
              </a:ext>
            </a:extLst>
          </p:cNvPr>
          <p:cNvSpPr txBox="1"/>
          <p:nvPr/>
        </p:nvSpPr>
        <p:spPr>
          <a:xfrm>
            <a:off x="929640" y="542136"/>
            <a:ext cx="5673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End-to-End Data Acquisition and Processing Pipeline</a:t>
            </a:r>
            <a:endParaRPr lang="zh-CN" altLang="en-US" sz="1200" b="1" dirty="0"/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D5A526D-E276-C2DF-4516-CA01399F0155}"/>
              </a:ext>
            </a:extLst>
          </p:cNvPr>
          <p:cNvGrpSpPr/>
          <p:nvPr/>
        </p:nvGrpSpPr>
        <p:grpSpPr>
          <a:xfrm>
            <a:off x="-1182405" y="2377596"/>
            <a:ext cx="7278624" cy="634123"/>
            <a:chOff x="-484014" y="3511295"/>
            <a:chExt cx="7278624" cy="634123"/>
          </a:xfrm>
        </p:grpSpPr>
        <p:sp>
          <p:nvSpPr>
            <p:cNvPr id="39" name="Shape 37"/>
            <p:cNvSpPr/>
            <p:nvPr/>
          </p:nvSpPr>
          <p:spPr>
            <a:xfrm>
              <a:off x="1881428" y="3511295"/>
              <a:ext cx="2509395" cy="623779"/>
            </a:xfrm>
            <a:prstGeom prst="roundRect">
              <a:avLst>
                <a:gd name="adj" fmla="val 11538"/>
              </a:avLst>
            </a:prstGeom>
            <a:solidFill>
              <a:srgbClr val="FCDEE7"/>
            </a:solidFill>
            <a:ln w="10160">
              <a:solidFill>
                <a:srgbClr val="5F5E5A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915535" y="3515304"/>
              <a:ext cx="2475288" cy="1391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5F5E5A"/>
                  </a:solidFill>
                </a:rPr>
                <a:t>Python pipeline</a:t>
              </a:r>
              <a:endParaRPr lang="en-US" sz="850" dirty="0"/>
            </a:p>
          </p:txBody>
        </p:sp>
        <p:sp>
          <p:nvSpPr>
            <p:cNvPr id="71" name="Text 41">
              <a:extLst>
                <a:ext uri="{FF2B5EF4-FFF2-40B4-BE49-F238E27FC236}">
                  <a16:creationId xmlns:a16="http://schemas.microsoft.com/office/drawing/2014/main" id="{1286233F-9220-29C1-BE3B-40E2328EB7A4}"/>
                </a:ext>
              </a:extLst>
            </p:cNvPr>
            <p:cNvSpPr/>
            <p:nvPr/>
          </p:nvSpPr>
          <p:spPr>
            <a:xfrm>
              <a:off x="-484014" y="3901456"/>
              <a:ext cx="7278624" cy="243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700" dirty="0">
                  <a:solidFill>
                    <a:srgbClr val="3D5A56"/>
                  </a:solidFill>
                </a:rPr>
                <a:t>D</a:t>
              </a:r>
              <a:r>
                <a:rPr lang="en-US" sz="700" dirty="0">
                  <a:solidFill>
                    <a:srgbClr val="3D5A56"/>
                  </a:solidFill>
                </a:rPr>
                <a:t>ata cleaning · interpolation · statistical analysis · JSON export</a:t>
              </a:r>
              <a:endParaRPr lang="en-US" sz="700" dirty="0"/>
            </a:p>
          </p:txBody>
        </p: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FD6D988B-C376-166E-14A2-FFAA0F1CC366}"/>
                </a:ext>
              </a:extLst>
            </p:cNvPr>
            <p:cNvGrpSpPr/>
            <p:nvPr/>
          </p:nvGrpSpPr>
          <p:grpSpPr>
            <a:xfrm>
              <a:off x="1608060" y="3676194"/>
              <a:ext cx="3090238" cy="253618"/>
              <a:chOff x="1248785" y="2830995"/>
              <a:chExt cx="3090238" cy="253618"/>
            </a:xfrm>
          </p:grpSpPr>
          <p:sp>
            <p:nvSpPr>
              <p:cNvPr id="72" name="Shape 31"/>
              <p:cNvSpPr/>
              <p:nvPr/>
            </p:nvSpPr>
            <p:spPr>
              <a:xfrm>
                <a:off x="1654223" y="2830995"/>
                <a:ext cx="2271232" cy="253618"/>
              </a:xfrm>
              <a:prstGeom prst="roundRect">
                <a:avLst>
                  <a:gd name="adj" fmla="val 12000"/>
                </a:avLst>
              </a:prstGeom>
              <a:solidFill>
                <a:srgbClr val="F1EFE8"/>
              </a:solidFill>
              <a:ln w="10160">
                <a:solidFill>
                  <a:srgbClr val="5F5E5A"/>
                </a:solidFill>
                <a:prstDash val="solid"/>
              </a:ln>
            </p:spPr>
          </p:sp>
          <p:sp>
            <p:nvSpPr>
              <p:cNvPr id="73" name="Text 32"/>
              <p:cNvSpPr/>
              <p:nvPr/>
            </p:nvSpPr>
            <p:spPr>
              <a:xfrm>
                <a:off x="1268077" y="2841346"/>
                <a:ext cx="3070946" cy="1337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 dirty="0">
                    <a:solidFill>
                      <a:srgbClr val="5F5E5A"/>
                    </a:solidFill>
                  </a:rPr>
                  <a:t>Time alignment</a:t>
                </a:r>
                <a:endParaRPr lang="en-US" sz="850" dirty="0"/>
              </a:p>
            </p:txBody>
          </p:sp>
          <p:sp>
            <p:nvSpPr>
              <p:cNvPr id="74" name="Text 33"/>
              <p:cNvSpPr/>
              <p:nvPr/>
            </p:nvSpPr>
            <p:spPr>
              <a:xfrm>
                <a:off x="1248785" y="2945294"/>
                <a:ext cx="3070946" cy="1230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3D5A56"/>
                    </a:solidFill>
                  </a:rPr>
                  <a:t>BatteryMon timestamps ↔ RTC timestamps (minute-level)</a:t>
                </a:r>
                <a:endParaRPr lang="en-US" sz="700" dirty="0"/>
              </a:p>
            </p:txBody>
          </p:sp>
        </p:grpSp>
      </p:grpSp>
      <p:sp>
        <p:nvSpPr>
          <p:cNvPr id="78" name="Shape 53">
            <a:extLst>
              <a:ext uri="{FF2B5EF4-FFF2-40B4-BE49-F238E27FC236}">
                <a16:creationId xmlns:a16="http://schemas.microsoft.com/office/drawing/2014/main" id="{2CD5F80E-79F2-8C08-A8AF-A0ED99452446}"/>
              </a:ext>
            </a:extLst>
          </p:cNvPr>
          <p:cNvSpPr/>
          <p:nvPr/>
        </p:nvSpPr>
        <p:spPr>
          <a:xfrm flipH="1">
            <a:off x="2462428" y="2201193"/>
            <a:ext cx="5534" cy="185665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  <a:tailEnd type="arrow"/>
          </a:ln>
        </p:spPr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6CBCC716-5E53-6AD9-2AD3-8F30EC1D5FC5}"/>
              </a:ext>
            </a:extLst>
          </p:cNvPr>
          <p:cNvGrpSpPr/>
          <p:nvPr/>
        </p:nvGrpSpPr>
        <p:grpSpPr>
          <a:xfrm>
            <a:off x="1092426" y="1094657"/>
            <a:ext cx="2743202" cy="100019"/>
            <a:chOff x="1092426" y="743676"/>
            <a:chExt cx="2743202" cy="100019"/>
          </a:xfrm>
        </p:grpSpPr>
        <p:sp>
          <p:nvSpPr>
            <p:cNvPr id="45" name="Shape 43"/>
            <p:cNvSpPr/>
            <p:nvPr/>
          </p:nvSpPr>
          <p:spPr>
            <a:xfrm>
              <a:off x="1092426" y="743676"/>
              <a:ext cx="0" cy="100015"/>
            </a:xfrm>
            <a:prstGeom prst="line">
              <a:avLst/>
            </a:prstGeom>
            <a:noFill/>
            <a:ln w="12700">
              <a:solidFill>
                <a:srgbClr val="B4B2A9"/>
              </a:solidFill>
              <a:prstDash val="solid"/>
              <a:tailEnd type="none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Shape 43">
              <a:extLst>
                <a:ext uri="{FF2B5EF4-FFF2-40B4-BE49-F238E27FC236}">
                  <a16:creationId xmlns:a16="http://schemas.microsoft.com/office/drawing/2014/main" id="{E63D066E-42B3-F251-E46A-848BABDF8EB9}"/>
                </a:ext>
              </a:extLst>
            </p:cNvPr>
            <p:cNvSpPr/>
            <p:nvPr/>
          </p:nvSpPr>
          <p:spPr>
            <a:xfrm>
              <a:off x="2004228" y="743676"/>
              <a:ext cx="0" cy="100015"/>
            </a:xfrm>
            <a:prstGeom prst="line">
              <a:avLst/>
            </a:prstGeom>
            <a:noFill/>
            <a:ln w="12700">
              <a:solidFill>
                <a:srgbClr val="B4B2A9"/>
              </a:solidFill>
              <a:prstDash val="solid"/>
              <a:tailEnd type="none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7" name="Shape 43">
              <a:extLst>
                <a:ext uri="{FF2B5EF4-FFF2-40B4-BE49-F238E27FC236}">
                  <a16:creationId xmlns:a16="http://schemas.microsoft.com/office/drawing/2014/main" id="{0B176887-2FF5-1B63-6044-099F713B0C57}"/>
                </a:ext>
              </a:extLst>
            </p:cNvPr>
            <p:cNvSpPr/>
            <p:nvPr/>
          </p:nvSpPr>
          <p:spPr>
            <a:xfrm>
              <a:off x="2906793" y="743680"/>
              <a:ext cx="0" cy="100015"/>
            </a:xfrm>
            <a:prstGeom prst="line">
              <a:avLst/>
            </a:prstGeom>
            <a:noFill/>
            <a:ln w="12700">
              <a:solidFill>
                <a:srgbClr val="B4B2A9"/>
              </a:solidFill>
              <a:prstDash val="solid"/>
              <a:tailEnd type="none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8" name="Shape 43">
              <a:extLst>
                <a:ext uri="{FF2B5EF4-FFF2-40B4-BE49-F238E27FC236}">
                  <a16:creationId xmlns:a16="http://schemas.microsoft.com/office/drawing/2014/main" id="{45A4C6F7-ACFC-D8E7-119F-034FDC2F6458}"/>
                </a:ext>
              </a:extLst>
            </p:cNvPr>
            <p:cNvSpPr/>
            <p:nvPr/>
          </p:nvSpPr>
          <p:spPr>
            <a:xfrm>
              <a:off x="3835628" y="743679"/>
              <a:ext cx="0" cy="100015"/>
            </a:xfrm>
            <a:prstGeom prst="line">
              <a:avLst/>
            </a:prstGeom>
            <a:noFill/>
            <a:ln w="12700">
              <a:solidFill>
                <a:srgbClr val="B4B2A9"/>
              </a:solidFill>
              <a:prstDash val="solid"/>
              <a:tailEnd type="none"/>
            </a:ln>
          </p:spPr>
          <p:txBody>
            <a:bodyPr/>
            <a:lstStyle/>
            <a:p>
              <a:endParaRPr lang="zh-CN" alt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96</Words>
  <Application>Microsoft Office PowerPoint</Application>
  <PresentationFormat>自定义</PresentationFormat>
  <Paragraphs>32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 H</cp:lastModifiedBy>
  <cp:revision>6</cp:revision>
  <dcterms:created xsi:type="dcterms:W3CDTF">2026-03-22T17:30:22Z</dcterms:created>
  <dcterms:modified xsi:type="dcterms:W3CDTF">2026-03-22T19:07:50Z</dcterms:modified>
</cp:coreProperties>
</file>